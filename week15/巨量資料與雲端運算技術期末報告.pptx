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06FE8E-5849-A2B4-D0B9-A783274EA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8A4823-F7F0-96FD-63D1-B77DD02D9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1E8C96-231F-B6D5-10BB-0C856E19F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DB24-1651-4D56-BE5C-90B753CD7E6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BBF4D2-F22F-2111-695A-21D6537D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546549-566C-CB71-66FF-3110BCA7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9B3C-970F-4726-BABF-B7074BFCB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1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C2173A-63D7-6727-F4CB-732CBC4D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32DB60-9A06-1E6F-D08E-99969D7B1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A5D9FB-472A-4F71-2421-22C264525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DB24-1651-4D56-BE5C-90B753CD7E6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8A5CB9-0D30-95FE-84F7-62B6BAFF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E14187-BD4C-8429-ABD9-0914DAE2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9B3C-970F-4726-BABF-B7074BFCB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394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5FD93D-A244-D9C9-2AF5-2D7C0FB7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604E81C-9032-926B-FBE4-C74A51124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613A65-25F8-75B1-8239-E78A0B9F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DB24-1651-4D56-BE5C-90B753CD7E6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A68C8A-3F19-9FAD-CD90-8FA2B6403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900BFD-D60D-8B76-F873-DDC6D4B4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9B3C-970F-4726-BABF-B7074BFCB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01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A0BB2-BE83-06A0-1D73-ACE5103E3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083FB7-574F-6BCC-0004-0FDBD7A1AD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F0BE4B8-5942-2839-CA12-8465361EE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DCE4F8-8650-2402-C9FC-9538D2C36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DB24-1651-4D56-BE5C-90B753CD7E6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56F24E-CFB0-9996-8171-3857A968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9168C1-263A-C6F0-003E-48B92A0F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9B3C-970F-4726-BABF-B7074BFCB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3964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5741CE-80C8-41FC-8FED-5097A65DB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279F2E-496B-18DD-219D-3910287B1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4D9FC28-E3E8-3133-633B-7BFCAD65E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65AB9F7-08BA-DBEF-D58A-D275EBED9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182C28B-AFCF-C381-DB92-615458D60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0A95697-7FAF-CCAA-70C8-19A36D00D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DB24-1651-4D56-BE5C-90B753CD7E6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D09131B-8CF3-10FF-1C1D-EB63FBEE3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156AD5D-C95D-482A-CB0E-983CC6AE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9B3C-970F-4726-BABF-B7074BFCB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842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7A67D3-0E0F-BBA6-783D-C0B6FBA8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B645186-57A0-2107-309A-E531AF64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DB24-1651-4D56-BE5C-90B753CD7E6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96A0BDD-34B7-0B0F-E139-7B3C4564F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8E7C58-C9AB-066E-A36F-12781043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9B3C-970F-4726-BABF-B7074BFCB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41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D12A1A4-81F6-085D-E4ED-5684E41E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DB24-1651-4D56-BE5C-90B753CD7E6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FC59570-66E3-10FE-AD4C-3AE30474F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EE57A8-60EC-E237-A1C9-2D9194C7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9B3C-970F-4726-BABF-B7074BFCB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012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5CDE34-5EFD-3A73-11C0-70E8CA3FC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42ED28-AB7D-35EA-F06B-1738397A1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DABDF28-A375-E27F-502A-0CB866AF7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EB7676C-C651-2496-0381-B66C0027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DB24-1651-4D56-BE5C-90B753CD7E6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5ACB3C-5C7E-233F-32B3-126671EB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CBB607-4E68-44B7-324D-F6845B03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9B3C-970F-4726-BABF-B7074BFCB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9889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69D551-A935-3938-C102-4AEB5E81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FF82B74-1D61-721B-E999-B9F465AFD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958638-8DBE-EF07-C6DA-6B8F791DC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92959D-97F5-57D1-BB8B-22F54BF6C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DB24-1651-4D56-BE5C-90B753CD7E6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3335166-57D1-070F-C6E0-46BCB808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2C6BD0-BA4F-9EDE-A163-198FE2163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9B3C-970F-4726-BABF-B7074BFCB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809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F18AB4-7E70-DE50-D2E2-C6A98F25E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F05DE00-F39E-1A93-004A-F4F11203E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46DD57-3162-6631-84B9-0764C1789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DB24-1651-4D56-BE5C-90B753CD7E6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F9233E-301A-8AE9-EC36-4B5722965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AC7731-150A-4038-FC01-D4E12218C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9B3C-970F-4726-BABF-B7074BFCB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091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49FC153-A06B-F38A-F4B2-32C4BB526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D6E8191-B0BA-9897-A9DF-C8F285394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08144F-9D74-8A90-8109-9761DB278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6DB24-1651-4D56-BE5C-90B753CD7E6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D1E148-300F-6B39-E22C-286ADF17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49B7F5-9E62-9F91-3F93-5428809F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9B3C-970F-4726-BABF-B7074BFCB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8070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8A3B394-E118-562E-EA71-167456FD4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37555E-D237-B5B7-8C3E-F4314B0E1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807BAE-9E57-1071-40D7-9787834B2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6DB24-1651-4D56-BE5C-90B753CD7E66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96813E-1292-0361-2305-A61124833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4C9EFB-A4FB-641A-6020-1D775B659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79B3C-970F-4726-BABF-B7074BFCB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410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2E30E783-5F1F-441D-CB58-A99AD0AB3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6364" y="720292"/>
            <a:ext cx="9144000" cy="1655762"/>
          </a:xfrm>
        </p:spPr>
        <p:txBody>
          <a:bodyPr/>
          <a:lstStyle/>
          <a:p>
            <a:r>
              <a:rPr lang="zh-TW" altLang="en-US" dirty="0"/>
              <a:t>海巡勤務智慧排班與即時回報系統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6BB6A663-3957-715E-AB2B-E9EE216B5346}"/>
              </a:ext>
            </a:extLst>
          </p:cNvPr>
          <p:cNvGrpSpPr/>
          <p:nvPr/>
        </p:nvGrpSpPr>
        <p:grpSpPr>
          <a:xfrm>
            <a:off x="344920" y="1452708"/>
            <a:ext cx="6831735" cy="1922462"/>
            <a:chOff x="1970520" y="1915247"/>
            <a:chExt cx="6831735" cy="1922462"/>
          </a:xfrm>
        </p:grpSpPr>
        <p:pic>
          <p:nvPicPr>
            <p:cNvPr id="1026" name="Picture 2" descr="海巡署階級肩章| 海巡署第一二岸巡隊人才招募小組的部落格相簿分享| 痞客邦| PIXNET">
              <a:extLst>
                <a:ext uri="{FF2B5EF4-FFF2-40B4-BE49-F238E27FC236}">
                  <a16:creationId xmlns:a16="http://schemas.microsoft.com/office/drawing/2014/main" id="{E367B04D-AE12-F516-3476-CFED96517C8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-437" b="5962"/>
            <a:stretch/>
          </p:blipFill>
          <p:spPr bwMode="auto">
            <a:xfrm>
              <a:off x="1970520" y="1915247"/>
              <a:ext cx="2850861" cy="1513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9F7D779F-B275-7508-7E33-837CB907F7C6}"/>
                </a:ext>
              </a:extLst>
            </p:cNvPr>
            <p:cNvSpPr txBox="1"/>
            <p:nvPr/>
          </p:nvSpPr>
          <p:spPr>
            <a:xfrm>
              <a:off x="2706255" y="3468377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海巡人員執勤</a:t>
              </a: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BCB8EF7F-794A-2727-02CA-28CDB92EB4E0}"/>
              </a:ext>
            </a:extLst>
          </p:cNvPr>
          <p:cNvGrpSpPr/>
          <p:nvPr/>
        </p:nvGrpSpPr>
        <p:grpSpPr>
          <a:xfrm>
            <a:off x="489530" y="3596245"/>
            <a:ext cx="6096000" cy="2618509"/>
            <a:chOff x="6225312" y="1599180"/>
            <a:chExt cx="6096000" cy="2618509"/>
          </a:xfrm>
        </p:grpSpPr>
        <p:pic>
          <p:nvPicPr>
            <p:cNvPr id="1030" name="Picture 6" descr="行動化GIS圖台-GIS-技術服務/解決方案">
              <a:extLst>
                <a:ext uri="{FF2B5EF4-FFF2-40B4-BE49-F238E27FC236}">
                  <a16:creationId xmlns:a16="http://schemas.microsoft.com/office/drawing/2014/main" id="{34B3C185-1FF5-652A-ACD0-1C8212B811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5312" y="1599180"/>
              <a:ext cx="2076450" cy="2209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6DDFDED3-CC5D-DE6B-4844-3243A84F212C}"/>
                </a:ext>
              </a:extLst>
            </p:cNvPr>
            <p:cNvSpPr txBox="1"/>
            <p:nvPr/>
          </p:nvSpPr>
          <p:spPr>
            <a:xfrm>
              <a:off x="6225312" y="3848357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行動裝置即時回報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6128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05AEBB5-E777-E732-D0C1-2DAD23AC3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4454" y="79953"/>
            <a:ext cx="6227619" cy="1323974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海巡勤務智慧排班與即時回報系統</a:t>
            </a:r>
          </a:p>
          <a:p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32CDBB5B-EA3F-5DEB-CEF6-F64153483C55}"/>
              </a:ext>
            </a:extLst>
          </p:cNvPr>
          <p:cNvGrpSpPr/>
          <p:nvPr/>
        </p:nvGrpSpPr>
        <p:grpSpPr>
          <a:xfrm>
            <a:off x="7715187" y="1058763"/>
            <a:ext cx="6576580" cy="2334429"/>
            <a:chOff x="683202" y="1279237"/>
            <a:chExt cx="6576580" cy="2334429"/>
          </a:xfrm>
        </p:grpSpPr>
        <p:pic>
          <p:nvPicPr>
            <p:cNvPr id="2052" name="Picture 4" descr="管理- Professor G">
              <a:extLst>
                <a:ext uri="{FF2B5EF4-FFF2-40B4-BE49-F238E27FC236}">
                  <a16:creationId xmlns:a16="http://schemas.microsoft.com/office/drawing/2014/main" id="{8E8311F3-AA50-EDB7-5215-8DC55A42B4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202" y="1279237"/>
              <a:ext cx="2457450" cy="1857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E1F1C45F-2360-F121-F5CC-08C2655ABDF3}"/>
                </a:ext>
              </a:extLst>
            </p:cNvPr>
            <p:cNvSpPr txBox="1"/>
            <p:nvPr/>
          </p:nvSpPr>
          <p:spPr>
            <a:xfrm>
              <a:off x="1163782" y="3244334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人力分配不均</a:t>
              </a: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26A4918-3EB2-B8D6-C943-C43C291323C3}"/>
              </a:ext>
            </a:extLst>
          </p:cNvPr>
          <p:cNvGrpSpPr/>
          <p:nvPr/>
        </p:nvGrpSpPr>
        <p:grpSpPr>
          <a:xfrm>
            <a:off x="8003095" y="3631904"/>
            <a:ext cx="6354762" cy="2401907"/>
            <a:chOff x="5024438" y="2357438"/>
            <a:chExt cx="6354762" cy="2401907"/>
          </a:xfrm>
        </p:grpSpPr>
        <p:pic>
          <p:nvPicPr>
            <p:cNvPr id="2056" name="Picture 8" descr="110,300+ 項疲勞的插圖檔、免版稅向量圖形及美工圖案- iStock">
              <a:extLst>
                <a:ext uri="{FF2B5EF4-FFF2-40B4-BE49-F238E27FC236}">
                  <a16:creationId xmlns:a16="http://schemas.microsoft.com/office/drawing/2014/main" id="{C58DE5A4-8B8C-69A4-50C5-17AD80377C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4438" y="2357438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811A9CB6-0E26-840D-23A8-01869EF2569B}"/>
                </a:ext>
              </a:extLst>
            </p:cNvPr>
            <p:cNvSpPr txBox="1"/>
            <p:nvPr/>
          </p:nvSpPr>
          <p:spPr>
            <a:xfrm>
              <a:off x="5283200" y="4390013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人員疲勞風險</a:t>
              </a: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EB6129DB-D24A-455A-93C7-1C78FF98C10E}"/>
              </a:ext>
            </a:extLst>
          </p:cNvPr>
          <p:cNvGrpSpPr/>
          <p:nvPr/>
        </p:nvGrpSpPr>
        <p:grpSpPr>
          <a:xfrm>
            <a:off x="0" y="1403927"/>
            <a:ext cx="6798685" cy="1950957"/>
            <a:chOff x="2816369" y="3556991"/>
            <a:chExt cx="6798685" cy="1950957"/>
          </a:xfrm>
        </p:grpSpPr>
        <p:pic>
          <p:nvPicPr>
            <p:cNvPr id="2058" name="Picture 10" descr="您還在為了排班傷腦筋嗎？首創人力配置排班模式，一次解決排班痛點- 艾立斯科技">
              <a:extLst>
                <a:ext uri="{FF2B5EF4-FFF2-40B4-BE49-F238E27FC236}">
                  <a16:creationId xmlns:a16="http://schemas.microsoft.com/office/drawing/2014/main" id="{1C61AF01-2854-D49E-E5FD-86D3C25CEF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6369" y="3556991"/>
              <a:ext cx="2790825" cy="1638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B5FC85C3-69C1-0221-9329-8063121A507B}"/>
                </a:ext>
              </a:extLst>
            </p:cNvPr>
            <p:cNvSpPr txBox="1"/>
            <p:nvPr/>
          </p:nvSpPr>
          <p:spPr>
            <a:xfrm>
              <a:off x="3519054" y="5138616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人工排班耗時</a:t>
              </a:r>
            </a:p>
          </p:txBody>
        </p: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B0C858D1-9E10-2D1A-27E8-3FD500F0A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2657" y="1314399"/>
            <a:ext cx="4524867" cy="3621185"/>
          </a:xfrm>
          <a:prstGeom prst="rect">
            <a:avLst/>
          </a:prstGeom>
        </p:spPr>
      </p:pic>
      <p:sp>
        <p:nvSpPr>
          <p:cNvPr id="17" name="箭號: 弧形下彎 16">
            <a:extLst>
              <a:ext uri="{FF2B5EF4-FFF2-40B4-BE49-F238E27FC236}">
                <a16:creationId xmlns:a16="http://schemas.microsoft.com/office/drawing/2014/main" id="{8DE852E5-75AC-451C-050A-A3F695A5F6AE}"/>
              </a:ext>
            </a:extLst>
          </p:cNvPr>
          <p:cNvSpPr/>
          <p:nvPr/>
        </p:nvSpPr>
        <p:spPr>
          <a:xfrm>
            <a:off x="6744247" y="573429"/>
            <a:ext cx="1727922" cy="755224"/>
          </a:xfrm>
          <a:prstGeom prst="curved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箭號: 弧形下彎 18">
            <a:extLst>
              <a:ext uri="{FF2B5EF4-FFF2-40B4-BE49-F238E27FC236}">
                <a16:creationId xmlns:a16="http://schemas.microsoft.com/office/drawing/2014/main" id="{1D5F046D-0CDA-EDC0-7929-CC10576099B6}"/>
              </a:ext>
            </a:extLst>
          </p:cNvPr>
          <p:cNvSpPr/>
          <p:nvPr/>
        </p:nvSpPr>
        <p:spPr>
          <a:xfrm>
            <a:off x="6880801" y="3446997"/>
            <a:ext cx="2143125" cy="661962"/>
          </a:xfrm>
          <a:prstGeom prst="curved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3" name="箭號: 弧形下彎 22">
            <a:extLst>
              <a:ext uri="{FF2B5EF4-FFF2-40B4-BE49-F238E27FC236}">
                <a16:creationId xmlns:a16="http://schemas.microsoft.com/office/drawing/2014/main" id="{478E12FC-9F5F-7E2E-C92C-0899F40B65D4}"/>
              </a:ext>
            </a:extLst>
          </p:cNvPr>
          <p:cNvSpPr/>
          <p:nvPr/>
        </p:nvSpPr>
        <p:spPr>
          <a:xfrm flipH="1">
            <a:off x="1282229" y="375321"/>
            <a:ext cx="1924641" cy="939078"/>
          </a:xfrm>
          <a:prstGeom prst="curved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865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015F40B-960C-C76D-16EC-53019061C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51934"/>
            <a:ext cx="975360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7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C8A4089-33D6-B581-AE4B-DEF87DDB5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3018" y="1068242"/>
            <a:ext cx="4427345" cy="354313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149D581-2788-DBC7-92A1-CD5600506E91}"/>
              </a:ext>
            </a:extLst>
          </p:cNvPr>
          <p:cNvSpPr txBox="1"/>
          <p:nvPr/>
        </p:nvSpPr>
        <p:spPr>
          <a:xfrm>
            <a:off x="3469746" y="17629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2800" dirty="0"/>
              <a:t>海巡勤務智慧排班與即時回報系統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B493B1B-73ED-802A-069E-93313F229378}"/>
              </a:ext>
            </a:extLst>
          </p:cNvPr>
          <p:cNvGrpSpPr/>
          <p:nvPr/>
        </p:nvGrpSpPr>
        <p:grpSpPr>
          <a:xfrm>
            <a:off x="1293092" y="2489200"/>
            <a:ext cx="1376219" cy="1586131"/>
            <a:chOff x="1293092" y="2489200"/>
            <a:chExt cx="1376219" cy="1586131"/>
          </a:xfrm>
        </p:grpSpPr>
        <p:pic>
          <p:nvPicPr>
            <p:cNvPr id="8" name="圖形 7" descr="橫條圖 以實心填滿">
              <a:extLst>
                <a:ext uri="{FF2B5EF4-FFF2-40B4-BE49-F238E27FC236}">
                  <a16:creationId xmlns:a16="http://schemas.microsoft.com/office/drawing/2014/main" id="{A2D9CDE7-FCF0-8F6C-DA26-CF15A37ED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93092" y="2489200"/>
              <a:ext cx="914400" cy="914400"/>
            </a:xfrm>
            <a:prstGeom prst="rect">
              <a:avLst/>
            </a:prstGeom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6EC0FA1C-176B-3404-AC09-5BCB3576946D}"/>
                </a:ext>
              </a:extLst>
            </p:cNvPr>
            <p:cNvSpPr txBox="1"/>
            <p:nvPr/>
          </p:nvSpPr>
          <p:spPr>
            <a:xfrm>
              <a:off x="1293092" y="3429000"/>
              <a:ext cx="137621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MYSQL</a:t>
              </a:r>
            </a:p>
            <a:p>
              <a:r>
                <a:rPr lang="en-US" altLang="zh-TW" dirty="0"/>
                <a:t>DATABASE</a:t>
              </a:r>
              <a:endParaRPr lang="zh-TW" altLang="en-US" dirty="0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E754D4C-F056-1549-AB90-477429D8A0C5}"/>
              </a:ext>
            </a:extLst>
          </p:cNvPr>
          <p:cNvGrpSpPr/>
          <p:nvPr/>
        </p:nvGrpSpPr>
        <p:grpSpPr>
          <a:xfrm>
            <a:off x="4962235" y="4924243"/>
            <a:ext cx="2008910" cy="1234847"/>
            <a:chOff x="4962235" y="4924243"/>
            <a:chExt cx="2008910" cy="1234847"/>
          </a:xfrm>
        </p:grpSpPr>
        <p:pic>
          <p:nvPicPr>
            <p:cNvPr id="9" name="圖形 8" descr="橫條圖 以實心填滿">
              <a:extLst>
                <a:ext uri="{FF2B5EF4-FFF2-40B4-BE49-F238E27FC236}">
                  <a16:creationId xmlns:a16="http://schemas.microsoft.com/office/drawing/2014/main" id="{1CD8D98C-C7B2-F296-75FB-A26BC19A9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09490" y="4924243"/>
              <a:ext cx="914400" cy="914400"/>
            </a:xfrm>
            <a:prstGeom prst="rect">
              <a:avLst/>
            </a:prstGeom>
          </p:spPr>
        </p:pic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8A559FA9-D60C-7F8B-B9B4-C2D85E54B9A9}"/>
                </a:ext>
              </a:extLst>
            </p:cNvPr>
            <p:cNvSpPr txBox="1"/>
            <p:nvPr/>
          </p:nvSpPr>
          <p:spPr>
            <a:xfrm>
              <a:off x="4962235" y="5789758"/>
              <a:ext cx="20089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PHP WEB SERVER</a:t>
              </a:r>
              <a:endParaRPr lang="zh-TW" altLang="en-US" dirty="0"/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F9283798-45AF-CA2D-1A23-C26194DC5005}"/>
              </a:ext>
            </a:extLst>
          </p:cNvPr>
          <p:cNvGrpSpPr/>
          <p:nvPr/>
        </p:nvGrpSpPr>
        <p:grpSpPr>
          <a:xfrm>
            <a:off x="9565746" y="2662021"/>
            <a:ext cx="1459348" cy="1267208"/>
            <a:chOff x="9565746" y="2662021"/>
            <a:chExt cx="1459348" cy="1267208"/>
          </a:xfrm>
        </p:grpSpPr>
        <p:pic>
          <p:nvPicPr>
            <p:cNvPr id="10" name="圖形 9" descr="橫條圖 以實心填滿">
              <a:extLst>
                <a:ext uri="{FF2B5EF4-FFF2-40B4-BE49-F238E27FC236}">
                  <a16:creationId xmlns:a16="http://schemas.microsoft.com/office/drawing/2014/main" id="{8E850873-8C12-3EDB-0EB7-A25AC4BB2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25889" y="2662021"/>
              <a:ext cx="914400" cy="914400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81619921-440E-BFF7-2C38-03D5BC4316F0}"/>
                </a:ext>
              </a:extLst>
            </p:cNvPr>
            <p:cNvSpPr txBox="1"/>
            <p:nvPr/>
          </p:nvSpPr>
          <p:spPr>
            <a:xfrm>
              <a:off x="9565746" y="3559897"/>
              <a:ext cx="14593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/>
                <a:t>AI SERVER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2769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1BD636D-295D-A21D-A343-9E115708D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84777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60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52</Words>
  <Application>Microsoft Office PowerPoint</Application>
  <PresentationFormat>寬螢幕</PresentationFormat>
  <Paragraphs>12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1</cp:revision>
  <dcterms:created xsi:type="dcterms:W3CDTF">2026-06-02T07:12:20Z</dcterms:created>
  <dcterms:modified xsi:type="dcterms:W3CDTF">2026-06-02T08:02:22Z</dcterms:modified>
</cp:coreProperties>
</file>